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274320"/>
            <a:ext cx="2926080" cy="2926080"/>
          </a:xfrm>
          <a:prstGeom prst="ellipse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383280"/>
            <a:ext cx="1828800" cy="1828800"/>
          </a:xfrm>
          <a:prstGeom prst="ellipse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4297680"/>
            <a:ext cx="1005840" cy="1005840"/>
          </a:xfrm>
          <a:prstGeom prst="ellipse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1554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SISTEMA DE
INVENTARIO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6400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2DCF2"/>
                </a:solidFill>
                <a:latin typeface="Aptos"/>
              </a:rPr>
              <a:t>Proyecto final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658368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Aplicación de escritorio para administrar productos, clientes y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Estudiante: 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3657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2DCF2"/>
                </a:solidFill>
                <a:latin typeface="Aptos"/>
              </a:rPr>
              <a:t>UMG • Jalapa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1. ¿En qué consiste el proyecto?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82D4E"/>
                </a:solidFill>
                <a:latin typeface="Aptos"/>
              </a:rPr>
              <a:t>El proyecto consiste en desarrollar un sistema de inventario que permita organizar información de un pequeño negocio desde una sola aplicación.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33375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82296" cy="201168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53512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Productos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47287"/>
            <a:ext cx="292607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Registrar nombre, precio y existencia.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88920"/>
            <a:ext cx="33375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788920"/>
            <a:ext cx="82296" cy="201168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53512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47287"/>
            <a:ext cx="292607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Guardar nombre, NIT y dirección.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88920"/>
            <a:ext cx="33375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788920"/>
            <a:ext cx="82296" cy="2011680"/>
          </a:xfrm>
          <a:prstGeom prst="rect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53512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Pedidos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47287"/>
            <a:ext cx="2926079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Registrar cliente, producto, cantidad y valor.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68727E"/>
                </a:solidFill>
                <a:latin typeface="Aptos"/>
              </a:rPr>
              <a:t>La idea es reducir el desorden de los registros y facilitar consultas y operaciones frecuentes.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2. Funciones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Administrar productos: agregar, editar, eliminar y consultar.</a:t>
            </a:r>
          </a:p>
          <a:p>
            <a:pPr>
              <a:spcAft>
                <a:spcPts val="15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Administrar clientes: registrar, modificar, eliminar y listar.</a:t>
            </a:r>
          </a:p>
          <a:p>
            <a:pPr>
              <a:spcAft>
                <a:spcPts val="15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Registrar y consultar pedidos.</a:t>
            </a:r>
          </a:p>
          <a:p>
            <a:pPr>
              <a:spcAft>
                <a:spcPts val="15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Generar cotizaciones en un documento Word y enviarlas por correo.</a:t>
            </a:r>
          </a:p>
          <a:p>
            <a:pPr>
              <a:spcAft>
                <a:spcPts val="15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Consultar reportes de ventas y crear copias de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3. Herramientas utilizadas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333756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08760"/>
            <a:ext cx="82296" cy="182880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67128"/>
            <a:ext cx="2926079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Lenguaje principal para la lógica del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82296" cy="182880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7335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Tkinter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67128"/>
            <a:ext cx="2926079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Biblioteca utilizada para construir la interfaz gráfica.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33756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08760"/>
            <a:ext cx="82296" cy="1828800"/>
          </a:xfrm>
          <a:prstGeom prst="rect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7335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Excel + openpyxl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67128"/>
            <a:ext cx="2926079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Almacenamiento de productos, clientes y pedidos en Inventario.xlsx.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03320"/>
            <a:ext cx="333756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703320"/>
            <a:ext cx="82296" cy="1645920"/>
          </a:xfrm>
          <a:prstGeom prst="rect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6791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python-docx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61688"/>
            <a:ext cx="2926079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Generación del documento de cotización.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03320"/>
            <a:ext cx="333756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703320"/>
            <a:ext cx="82296" cy="164592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86791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Correo electrónico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61688"/>
            <a:ext cx="2926079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Envío de cotizaciones y copias de seguridad según configuración.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703320"/>
            <a:ext cx="3337560" cy="164592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82296" cy="164592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67911"/>
            <a:ext cx="2926079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unittest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361688"/>
            <a:ext cx="2926079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Pruebas automáticas para verificar funciones de 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4. ¿Cómo se organiza la información?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2148840" cy="1965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82296" cy="196596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13432"/>
            <a:ext cx="1737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1737360" cy="118871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Interactúa con la ventana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1417320"/>
            <a:ext cx="566928" cy="566928"/>
          </a:xfrm>
          <a:prstGeom prst="ellipse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90472"/>
            <a:ext cx="56692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88920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8727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48840"/>
            <a:ext cx="2148840" cy="1965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148840"/>
            <a:ext cx="82296" cy="196596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13432"/>
            <a:ext cx="1737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Interfaz Tkinter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07208"/>
            <a:ext cx="1737360" cy="118871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Recibe y valida los datos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417320"/>
            <a:ext cx="566928" cy="566928"/>
          </a:xfrm>
          <a:prstGeom prst="ellipse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90472"/>
            <a:ext cx="56692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88920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8727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48840"/>
            <a:ext cx="2148840" cy="1965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148840"/>
            <a:ext cx="82296" cy="1965960"/>
          </a:xfrm>
          <a:prstGeom prst="rect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13432"/>
            <a:ext cx="1737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Funciones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07208"/>
            <a:ext cx="1737360" cy="118871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Lee o guarda registros</a:t>
            </a:r>
          </a:p>
        </p:txBody>
      </p:sp>
      <p:sp>
        <p:nvSpPr>
          <p:cNvPr id="23" name="Oval 22"/>
          <p:cNvSpPr/>
          <p:nvPr/>
        </p:nvSpPr>
        <p:spPr>
          <a:xfrm>
            <a:off x="7223759" y="1417320"/>
            <a:ext cx="566928" cy="566928"/>
          </a:xfrm>
          <a:prstGeom prst="ellipse">
            <a:avLst/>
          </a:prstGeom>
          <a:solidFill>
            <a:srgbClr val="E1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59" y="1490472"/>
            <a:ext cx="56692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788920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8727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48840"/>
            <a:ext cx="2148840" cy="1965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148840"/>
            <a:ext cx="82296" cy="196596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313432"/>
            <a:ext cx="1737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Inventario.xlsx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807208"/>
            <a:ext cx="1737360" cy="118871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Conserva la información</a:t>
            </a:r>
          </a:p>
        </p:txBody>
      </p:sp>
      <p:sp>
        <p:nvSpPr>
          <p:cNvPr id="30" name="Oval 29"/>
          <p:cNvSpPr/>
          <p:nvPr/>
        </p:nvSpPr>
        <p:spPr>
          <a:xfrm>
            <a:off x="10104119" y="1417320"/>
            <a:ext cx="566928" cy="566928"/>
          </a:xfrm>
          <a:prstGeom prst="ellipse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19" y="1490472"/>
            <a:ext cx="56692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82D4E"/>
                </a:solidFill>
                <a:latin typeface="Aptos"/>
              </a:rPr>
              <a:t>El archivo Excel contiene tres hojas principales: Productos, Clientes y Pedidos.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5. Estructura del archivo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0876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4114800"/>
              </a:tblGrid>
              <a:tr h="7772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Hoja</a:t>
                      </a:r>
                    </a:p>
                  </a:txBody>
                  <a:tcPr marL="109728" marR="73152"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Campos principales</a:t>
                      </a:r>
                    </a:p>
                  </a:txBody>
                  <a:tcPr marL="109728" marR="73152" anchor="ctr"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 marL="109728" marR="73152" anchor="ctr">
                    <a:solidFill>
                      <a:srgbClr val="182D4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Productos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Nombre • Precio • Existencia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Controlar los artículos disponibles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Clientes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Nombre • NIT • Dirección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Guardar información del cliente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Pedidos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Cliente • Producto • Cantidad • Valor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43D"/>
                          </a:solidFill>
                          <a:latin typeface="Aptos"/>
                        </a:defRPr>
                      </a:pPr>
                      <a:r>
                        <a:t>Registrar las ventas o pedidos</a:t>
                      </a:r>
                    </a:p>
                  </a:txBody>
                  <a:tcPr marL="109728" marR="73152" anchor="ctr">
                    <a:solidFill>
                      <a:srgbClr val="F1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8727E"/>
                </a:solidFill>
                <a:latin typeface="Aptos"/>
              </a:rPr>
              <a:t>También se conservaron los archivos de texto originales como respaldo durante la adaptación.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6. Validaciones y manejo de errores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Se revisan los campos obligatorios antes de guardar.</a:t>
            </a:r>
          </a:p>
          <a:p>
            <a:pPr>
              <a:spcAft>
                <a:spcPts val="13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Se valida que las cantidades y valores tengan un formato adecuado.</a:t>
            </a:r>
          </a:p>
          <a:p>
            <a:pPr>
              <a:spcAft>
                <a:spcPts val="13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Se comprueba que no se registren productos duplicados cuando corresponde.</a:t>
            </a:r>
          </a:p>
          <a:p>
            <a:pPr>
              <a:spcAft>
                <a:spcPts val="13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Se muestran mensajes para orientar al usuario cuando falta información o hay un error.</a:t>
            </a:r>
          </a:p>
          <a:p>
            <a:pPr>
              <a:spcAft>
                <a:spcPts val="13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Las operaciones deben comprobarse con datos reales antes de entregar.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7. Pruebas realizadas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D4E"/>
                </a:solidFill>
                <a:latin typeface="Aptos"/>
              </a:rPr>
              <a:t>Se ejecutaron seis pruebas unitarias relacionadas con el almacenamiento en Excel.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82296" cy="82296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7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Creación de las tres hojas del libro.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82296" cy="82296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96312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90087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Guardar y leer productos.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10711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410711"/>
            <a:ext cx="82296" cy="82296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75303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79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Guardar y leer clientes con comas en la dirección.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10711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410711"/>
            <a:ext cx="82296" cy="82296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75303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79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Reemplazar registros sin duplicarlos.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489704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489704"/>
            <a:ext cx="82296" cy="82296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54296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48072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Crear una copia de seguridad del Excel.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89704"/>
            <a:ext cx="50749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489704"/>
            <a:ext cx="82296" cy="82296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54296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Prueba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48072"/>
            <a:ext cx="4663440" cy="45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Importar datos desde archivos de texto.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8727E"/>
                </a:solidFill>
                <a:latin typeface="Aptos"/>
              </a:rPr>
              <a:t>En la terminal, las seis pruebas mostraron OK. Esto valida esas funciones, pero no sustituye la prueba manual del sistema completo.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8. Demostración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Mostrar la pestaña Productos y consultar un registro.</a:t>
            </a:r>
          </a:p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Mostrar Clientes y Pedidos.</a:t>
            </a:r>
          </a:p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Registrar un pedido de prueba y comprobar el cambio guardado.</a:t>
            </a:r>
          </a:p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Abrir Cotizaciones y seleccionar un cliente y un producto.</a:t>
            </a:r>
          </a:p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Mostrar Reportes y copias de seguridad.</a:t>
            </a:r>
          </a:p>
          <a:p>
            <a:pPr>
              <a:spcAft>
                <a:spcPts val="1300"/>
              </a:spcAft>
              <a:defRPr sz="2100">
                <a:solidFill>
                  <a:srgbClr val="2D343D"/>
                </a:solidFill>
                <a:latin typeface="Aptos"/>
              </a:defRPr>
            </a:pPr>
            <a:r>
              <a:t>Verificar los resultados antes de presentar la demostración.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9. Dificultades y aprendizajes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4983480" cy="320040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54480"/>
            <a:ext cx="82296" cy="3200400"/>
          </a:xfrm>
          <a:prstGeom prst="rect">
            <a:avLst/>
          </a:prstGeom>
          <a:solidFill>
            <a:srgbClr val="2D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Dificultades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4572000" cy="2423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• Conectar la interfaz con el archivo Excel.
• Importar registros que ya estaban en archivos de texto.
• Conseguir que las tablas y menús mostraran los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4983480" cy="3200400"/>
          </a:xfrm>
          <a:prstGeom prst="roundRect">
            <a:avLst/>
          </a:prstGeom>
          <a:solidFill>
            <a:srgbClr val="F1F6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82296" cy="320040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19072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D4E"/>
                </a:solidFill>
                <a:latin typeface="Aptos"/>
              </a:rPr>
              <a:t>Aprendizajes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4572000" cy="2423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43D"/>
                </a:solidFill>
                <a:latin typeface="Aptos"/>
              </a:rPr>
              <a:t>• Leer mensajes de error y probar soluciones.
• Separar la interfaz de las funciones de almacenamiento.
• Usar pruebas unitarias para revisar el comportamiento.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82D4E"/>
                </a:solidFill>
                <a:latin typeface="Aptos"/>
              </a:rPr>
              <a:t>La depuración fue parte importante del proceso: no bastaba con que el programa abriera, también debía leer y mostrar los datos correctamente.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10. Uso de inteligencia artificial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5156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8727E"/>
                </a:solidFill>
                <a:latin typeface="Aptos"/>
              </a:rPr>
              <a:t>PROYECTO FINAL DE ALGORITMOS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ChatGPT se utilizó como apoyo para interpretar errores, revisar funciones y proponer pruebas.</a:t>
            </a:r>
          </a:p>
          <a:p>
            <a:pPr>
              <a:spcAft>
                <a:spcPts val="16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Las sugerencias se probaron en VS Code y se ajustaron según los resultados.</a:t>
            </a:r>
          </a:p>
          <a:p>
            <a:pPr>
              <a:spcAft>
                <a:spcPts val="16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La IA fue una herramienta de apoyo; el estudiante debe comprender y explicar el código utilizado.</a:t>
            </a:r>
          </a:p>
          <a:p>
            <a:pPr>
              <a:spcAft>
                <a:spcPts val="1600"/>
              </a:spcAft>
              <a:defRPr sz="2000">
                <a:solidFill>
                  <a:srgbClr val="2D343D"/>
                </a:solidFill>
                <a:latin typeface="Aptos"/>
              </a:defRPr>
            </a:pPr>
            <a:r>
              <a:t>Las credenciales de correo se mantienen en .env y no deben publicarse en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10332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89196"/>
                </a:solidFill>
                <a:latin typeface="Aptos"/>
              </a:rPr>
              <a:t>La documentación del uso de IA se entrega por separado.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4241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C2DCF2"/>
                </a:solidFill>
                <a:latin typeface="Aptos"/>
              </a:rP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87552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El sistema reúne en una sola aplicación funciones básicas para administrar productos, clientes y pedidos.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0">
                <a:solidFill>
                  <a:srgbClr val="DCE6F0"/>
                </a:solidFill>
                <a:latin typeface="Aptos"/>
              </a:rPr>
              <a:t>El trabajo también permitió practicar la programación en Python, la creación de interfaces, el almacenamiento de datos y la comprobación de errores.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3657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3657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C2DCF2"/>
                </a:solidFill>
                <a:latin typeface="Aptos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